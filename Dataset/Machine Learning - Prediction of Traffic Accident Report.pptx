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embeddedFontLst>
    <p:embeddedFont>
      <p:font typeface="Play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nm6ab0tLbhiLs9uq9GWhi1uF2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03D4E0-A8FB-4BD7-A2B5-F25B4057C498}">
  <a:tblStyle styleId="{7C03D4E0-A8FB-4BD7-A2B5-F25B4057C4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B9417F-2BB3-43C4-A3B2-CC966DB18093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wan w" userId="dd59ab2eb1a2be5b" providerId="LiveId" clId="{602DE33F-C77E-4AEF-AB4C-BF3B6EC6C07E}"/>
    <pc:docChg chg="custSel delSld modSld">
      <pc:chgData name="Kwan w" userId="dd59ab2eb1a2be5b" providerId="LiveId" clId="{602DE33F-C77E-4AEF-AB4C-BF3B6EC6C07E}" dt="2026-03-14T12:51:01.730" v="3" actId="47"/>
      <pc:docMkLst>
        <pc:docMk/>
      </pc:docMkLst>
      <pc:sldChg chg="addSp delSp modSp mod">
        <pc:chgData name="Kwan w" userId="dd59ab2eb1a2be5b" providerId="LiveId" clId="{602DE33F-C77E-4AEF-AB4C-BF3B6EC6C07E}" dt="2026-03-14T12:50:50.640" v="2" actId="6549"/>
        <pc:sldMkLst>
          <pc:docMk/>
          <pc:sldMk cId="0" sldId="256"/>
        </pc:sldMkLst>
        <pc:spChg chg="add del mod">
          <ac:chgData name="Kwan w" userId="dd59ab2eb1a2be5b" providerId="LiveId" clId="{602DE33F-C77E-4AEF-AB4C-BF3B6EC6C07E}" dt="2026-03-14T12:50:46.546" v="1" actId="478"/>
          <ac:spMkLst>
            <pc:docMk/>
            <pc:sldMk cId="0" sldId="256"/>
            <ac:spMk id="3" creationId="{DA9BA15F-CEB6-2791-71CB-321FE33497B7}"/>
          </ac:spMkLst>
        </pc:spChg>
        <pc:spChg chg="mod">
          <ac:chgData name="Kwan w" userId="dd59ab2eb1a2be5b" providerId="LiveId" clId="{602DE33F-C77E-4AEF-AB4C-BF3B6EC6C07E}" dt="2026-03-14T12:50:50.640" v="2" actId="6549"/>
          <ac:spMkLst>
            <pc:docMk/>
            <pc:sldMk cId="0" sldId="256"/>
            <ac:spMk id="88" creationId="{00000000-0000-0000-0000-000000000000}"/>
          </ac:spMkLst>
        </pc:spChg>
        <pc:spChg chg="del">
          <ac:chgData name="Kwan w" userId="dd59ab2eb1a2be5b" providerId="LiveId" clId="{602DE33F-C77E-4AEF-AB4C-BF3B6EC6C07E}" dt="2026-03-14T12:50:43.361" v="0" actId="478"/>
          <ac:spMkLst>
            <pc:docMk/>
            <pc:sldMk cId="0" sldId="256"/>
            <ac:spMk id="89" creationId="{00000000-0000-0000-0000-000000000000}"/>
          </ac:spMkLst>
        </pc:spChg>
      </pc:sldChg>
      <pc:sldChg chg="del">
        <pc:chgData name="Kwan w" userId="dd59ab2eb1a2be5b" providerId="LiveId" clId="{602DE33F-C77E-4AEF-AB4C-BF3B6EC6C07E}" dt="2026-03-14T12:51:01.730" v="3" actId="47"/>
        <pc:sldMkLst>
          <pc:docMk/>
          <pc:sldMk cId="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182197fe2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8182197fe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18cccc645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818cccc64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15933a22c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815933a22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1c684ef62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81c684ef6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182197fe2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8182197fe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18cccc645_2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818cccc645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182197fe2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8182197fe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18cccc645_3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https://medium.com/@rithpansanga/logistic-regression-and-regularization-avoiding-overfitting-and-improving-generalization-e9afdcddd09d</a:t>
            </a:r>
            <a:endParaRPr/>
          </a:p>
        </p:txBody>
      </p:sp>
      <p:sp>
        <p:nvSpPr>
          <p:cNvPr id="186" name="Google Shape;186;g3818cccc645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82197fe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8182197f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1851daf5e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81851daf5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1851daf5e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81851daf5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1851daf5e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81851daf5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1851daf5e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81851daf5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1851daf5e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81851daf5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18cccc645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818cccc645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5.jp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oktayrdeki/traffic-accident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rithpansanga/logistic-regression-and-regularization-avoiding-overfitting-and-improving-generalization-e9afdcddd09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5297761" y="640080"/>
            <a:ext cx="6412457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200"/>
              <a:buFont typeface="Play"/>
              <a:buNone/>
            </a:pPr>
            <a:r>
              <a:rPr lang="en-US" sz="4200" b="1" dirty="0">
                <a:solidFill>
                  <a:srgbClr val="0F4862"/>
                </a:solidFill>
              </a:rPr>
              <a:t>Prediction of Traffic Accident with Machine Learning</a:t>
            </a:r>
            <a:br>
              <a:rPr lang="en-US" sz="4200" dirty="0"/>
            </a:br>
            <a:endParaRPr sz="2000" dirty="0">
              <a:solidFill>
                <a:srgbClr val="7C7C7C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412862" y="4409267"/>
            <a:ext cx="4243589" cy="18288"/>
          </a:xfrm>
          <a:custGeom>
            <a:avLst/>
            <a:gdLst/>
            <a:ahLst/>
            <a:cxnLst/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76A5AF"/>
          </a:solidFill>
          <a:ln w="44450" cap="rnd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475" y="1933339"/>
            <a:ext cx="4798775" cy="2991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Agenda</a:t>
            </a:r>
            <a:endParaRPr b="1">
              <a:solidFill>
                <a:srgbClr val="0F4862"/>
              </a:solidFill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804672" y="2421682"/>
            <a:ext cx="4977578" cy="3639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036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80"/>
              <a:buFont typeface="Play"/>
              <a:buAutoNum type="arabicPeriod"/>
            </a:pPr>
            <a:r>
              <a:rPr lang="en-US" sz="218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Background &amp; Objective</a:t>
            </a:r>
            <a:endParaRPr sz="2460"/>
          </a:p>
          <a:p>
            <a:pPr marL="342900" lvl="0" indent="-34036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80"/>
              <a:buAutoNum type="arabicPeriod"/>
            </a:pPr>
            <a:r>
              <a:rPr lang="en-US" sz="2180">
                <a:solidFill>
                  <a:schemeClr val="dk2"/>
                </a:solidFill>
              </a:rPr>
              <a:t>Dataset: EDA and Preprocessing</a:t>
            </a:r>
            <a:endParaRPr sz="218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036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80"/>
              <a:buFont typeface="Play"/>
              <a:buAutoNum type="arabicPeriod"/>
            </a:pPr>
            <a:r>
              <a:rPr lang="en-US" sz="218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Machine Learning Model</a:t>
            </a:r>
            <a:endParaRPr sz="2460"/>
          </a:p>
          <a:p>
            <a:pPr marL="914400" lvl="1" indent="-46037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"/>
              <a:buAutoNum type="alphaLcParenR"/>
            </a:pPr>
            <a:r>
              <a:rPr lang="en-US" sz="1900">
                <a:solidFill>
                  <a:schemeClr val="dk2"/>
                </a:solidFill>
              </a:rPr>
              <a:t>Histogram-based Gradient Boosting Classification Tree</a:t>
            </a:r>
            <a:endParaRPr sz="1900">
              <a:solidFill>
                <a:schemeClr val="dk2"/>
              </a:solidFill>
            </a:endParaRPr>
          </a:p>
          <a:p>
            <a:pPr marL="914400" lvl="1" indent="-46037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"/>
              <a:buAutoNum type="alphaLcParenR"/>
            </a:pPr>
            <a:r>
              <a:rPr lang="en-US" sz="1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sz="2180"/>
          </a:p>
          <a:p>
            <a:pPr marL="914400" lvl="1" indent="-46037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"/>
              <a:buAutoNum type="alphaLcParenR"/>
            </a:pPr>
            <a:r>
              <a:rPr lang="en-US" sz="1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Random </a:t>
            </a:r>
            <a:r>
              <a:rPr lang="en-US" sz="1900">
                <a:solidFill>
                  <a:schemeClr val="dk2"/>
                </a:solidFill>
              </a:rPr>
              <a:t>Forest</a:t>
            </a:r>
            <a:endParaRPr sz="218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34036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80"/>
              <a:buAutoNum type="arabicPeriod"/>
            </a:pPr>
            <a:r>
              <a:rPr lang="en-US" sz="2180">
                <a:solidFill>
                  <a:schemeClr val="dk2"/>
                </a:solidFill>
              </a:rPr>
              <a:t>Comparison</a:t>
            </a:r>
            <a:endParaRPr sz="2460"/>
          </a:p>
          <a:p>
            <a:pPr marL="342900" lvl="0" indent="-34036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80"/>
              <a:buAutoNum type="arabicPeriod"/>
            </a:pPr>
            <a:r>
              <a:rPr lang="en-US" sz="2180">
                <a:solidFill>
                  <a:schemeClr val="dk2"/>
                </a:solidFill>
              </a:rPr>
              <a:t>Challenges</a:t>
            </a:r>
            <a:endParaRPr sz="2180">
              <a:solidFill>
                <a:schemeClr val="dk2"/>
              </a:solidFill>
            </a:endParaRPr>
          </a:p>
          <a:p>
            <a:pPr marL="342900" lvl="0" indent="-34036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80"/>
              <a:buAutoNum type="arabicPeriod"/>
            </a:pPr>
            <a:r>
              <a:rPr lang="en-US" sz="218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Demonstration</a:t>
            </a:r>
            <a:endParaRPr sz="2460"/>
          </a:p>
          <a:p>
            <a:pPr marL="342900" lvl="0" indent="-34036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180"/>
              <a:buFont typeface="Play"/>
              <a:buAutoNum type="arabicPeriod"/>
            </a:pPr>
            <a:r>
              <a:rPr lang="en-US" sz="218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18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0193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Play"/>
              <a:buNone/>
            </a:pPr>
            <a:endParaRPr sz="218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122872" algn="l" rtl="0">
              <a:lnSpc>
                <a:spcPct val="7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260"/>
              <a:buNone/>
            </a:pPr>
            <a:endParaRPr sz="1760">
              <a:solidFill>
                <a:schemeClr val="dk2"/>
              </a:solidFill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01" name="Google Shape;101;p2"/>
            <p:cNvSpPr/>
            <p:nvPr/>
          </p:nvSpPr>
          <p:spPr>
            <a:xfrm>
              <a:off x="6357228" y="0"/>
              <a:ext cx="5822102" cy="6685267"/>
            </a:xfrm>
            <a:custGeom>
              <a:avLst/>
              <a:gdLst/>
              <a:ahLst/>
              <a:cxnLst/>
              <a:rect l="l" t="t" r="r" b="b"/>
              <a:pathLst>
                <a:path w="5822102" h="6685267" extrusionOk="0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6404998" y="98659"/>
              <a:ext cx="5774333" cy="6315453"/>
            </a:xfrm>
            <a:custGeom>
              <a:avLst/>
              <a:gdLst/>
              <a:ahLst/>
              <a:cxnLst/>
              <a:rect l="l" t="t" r="r" b="b"/>
              <a:pathLst>
                <a:path w="5774333" h="6315453" extrusionOk="0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410220" y="131729"/>
              <a:ext cx="5769111" cy="6229400"/>
            </a:xfrm>
            <a:custGeom>
              <a:avLst/>
              <a:gdLst/>
              <a:ahLst/>
              <a:cxnLst/>
              <a:rect l="l" t="t" r="r" b="b"/>
              <a:pathLst>
                <a:path w="5769111" h="6229400" extrusionOk="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410220" y="131729"/>
              <a:ext cx="5769111" cy="6229400"/>
            </a:xfrm>
            <a:custGeom>
              <a:avLst/>
              <a:gdLst/>
              <a:ahLst/>
              <a:cxnLst/>
              <a:rect l="l" t="t" r="r" b="b"/>
              <a:pathLst>
                <a:path w="5769111" h="6229400" extrusionOk="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4EA72E">
                    <a:alpha val="9803"/>
                  </a:srgbClr>
                </a:gs>
                <a:gs pos="85000">
                  <a:srgbClr val="156082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5" name="Google Shape;105;p2" descr="CheckL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1726" y="1629089"/>
            <a:ext cx="3620021" cy="3620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0" y="-1"/>
            <a:ext cx="11766176" cy="2061837"/>
          </a:xfrm>
          <a:custGeom>
            <a:avLst/>
            <a:gdLst/>
            <a:ahLst/>
            <a:cxnLst/>
            <a:rect l="l" t="t" r="r" b="b"/>
            <a:pathLst>
              <a:path w="10768629" h="1978172" extrusionOk="0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Background &amp; Objective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1137026" y="2653450"/>
            <a:ext cx="5628900" cy="28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Practising machine learning (ML) with data analysis on traffic accident</a:t>
            </a:r>
            <a:endParaRPr sz="24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Comparing the performance of ML models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Applying the model to predict real-life scenario: risk of injury on a road</a:t>
            </a:r>
            <a:endParaRPr sz="2400"/>
          </a:p>
        </p:txBody>
      </p:sp>
      <p:sp>
        <p:nvSpPr>
          <p:cNvPr id="115" name="Google Shape;115;p3"/>
          <p:cNvSpPr/>
          <p:nvPr/>
        </p:nvSpPr>
        <p:spPr>
          <a:xfrm rot="10800000">
            <a:off x="5381624" y="6209414"/>
            <a:ext cx="6810375" cy="648586"/>
          </a:xfrm>
          <a:custGeom>
            <a:avLst/>
            <a:gdLst/>
            <a:ahLst/>
            <a:cxnLst/>
            <a:rect l="l" t="t" r="r" b="b"/>
            <a:pathLst>
              <a:path w="10753706" h="1027260" extrusionOk="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5424" y="2653450"/>
            <a:ext cx="4909499" cy="33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Introduction of Dataset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838200" y="1571625"/>
            <a:ext cx="10515600" cy="5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Data source from Kaggle:</a:t>
            </a:r>
            <a:br>
              <a:rPr lang="en-US"/>
            </a:br>
            <a:r>
              <a:rPr lang="en-US"/>
              <a:t> </a:t>
            </a:r>
            <a:r>
              <a:rPr lang="en-US" sz="2000"/>
              <a:t>https://www.kaggle.com/datasets/oktayrdeki/traffic-accidents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Data Volume: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200,000+ values * 24 columns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General Description: </a:t>
            </a:r>
            <a:endParaRPr/>
          </a:p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</a:t>
            </a:r>
            <a:r>
              <a:rPr lang="en-US" sz="2000">
                <a:solidFill>
                  <a:srgbClr val="000000"/>
                </a:solidFill>
              </a:rPr>
              <a:t>ad conditions (e.g. defects, wet, …)</a:t>
            </a:r>
            <a:endParaRPr sz="2000">
              <a:solidFill>
                <a:srgbClr val="000000"/>
              </a:solidFill>
            </a:endParaRPr>
          </a:p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Traffic control (e.g. light, sign…)</a:t>
            </a:r>
            <a:endParaRPr sz="2000">
              <a:solidFill>
                <a:srgbClr val="000000"/>
              </a:solidFill>
            </a:endParaRPr>
          </a:p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Landscape (e.g. curve, straight…)</a:t>
            </a:r>
            <a:endParaRPr sz="2000">
              <a:solidFill>
                <a:srgbClr val="000000"/>
              </a:solidFill>
            </a:endParaRPr>
          </a:p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Weather (e.g. rain, snow…)</a:t>
            </a:r>
            <a:endParaRPr sz="2000">
              <a:solidFill>
                <a:srgbClr val="000000"/>
              </a:solidFill>
            </a:endParaRPr>
          </a:p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  <a:highlight>
                  <a:srgbClr val="FFFF00"/>
                </a:highlight>
              </a:rPr>
              <a:t>Injuries (e.g. fatal, incapacitating, no injuries…)</a:t>
            </a:r>
            <a:endParaRPr sz="200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Damage</a:t>
            </a:r>
            <a:endParaRPr sz="2000">
              <a:solidFill>
                <a:srgbClr val="000000"/>
              </a:solidFill>
            </a:endParaRPr>
          </a:p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Date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6375" y="2966650"/>
            <a:ext cx="3678325" cy="3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82197fe2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EDA</a:t>
            </a:r>
            <a:endParaRPr>
              <a:solidFill>
                <a:srgbClr val="0F4862"/>
              </a:solidFill>
            </a:endParaRPr>
          </a:p>
        </p:txBody>
      </p:sp>
      <p:pic>
        <p:nvPicPr>
          <p:cNvPr id="129" name="Google Shape;129;g38182197fe2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00" y="1671650"/>
            <a:ext cx="11415601" cy="484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18cccc645_0_1"/>
          <p:cNvSpPr txBox="1">
            <a:spLocks noGrp="1"/>
          </p:cNvSpPr>
          <p:nvPr>
            <p:ph type="body" idx="1"/>
          </p:nvPr>
        </p:nvSpPr>
        <p:spPr>
          <a:xfrm>
            <a:off x="838200" y="1571625"/>
            <a:ext cx="10515600" cy="5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sz="2000">
              <a:solidFill>
                <a:srgbClr val="000000"/>
              </a:solidFill>
            </a:endParaRPr>
          </a:p>
        </p:txBody>
      </p:sp>
      <p:pic>
        <p:nvPicPr>
          <p:cNvPr id="135" name="Google Shape;135;g3818cccc645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671" y="0"/>
            <a:ext cx="1146265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15933a22c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Data Preprocessing</a:t>
            </a:r>
            <a:endParaRPr>
              <a:solidFill>
                <a:srgbClr val="0F4862"/>
              </a:solidFill>
            </a:endParaRPr>
          </a:p>
        </p:txBody>
      </p:sp>
      <p:pic>
        <p:nvPicPr>
          <p:cNvPr id="141" name="Google Shape;141;g3815933a22c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250" y="1467400"/>
            <a:ext cx="2271900" cy="16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815933a22c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250" y="3218008"/>
            <a:ext cx="2271900" cy="1751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815933a22c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250" y="5074279"/>
            <a:ext cx="2271900" cy="174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815933a22c_0_6"/>
          <p:cNvSpPr txBox="1"/>
          <p:nvPr/>
        </p:nvSpPr>
        <p:spPr>
          <a:xfrm>
            <a:off x="2674050" y="1505825"/>
            <a:ext cx="5225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Categorizing the data into 2 types: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1</a:t>
            </a:r>
            <a:r>
              <a:rPr lang="en-US" sz="2000" baseline="30000">
                <a:solidFill>
                  <a:schemeClr val="dk1"/>
                </a:solidFill>
              </a:rPr>
              <a:t>st</a:t>
            </a:r>
            <a:r>
              <a:rPr lang="en-US" sz="2000">
                <a:solidFill>
                  <a:schemeClr val="dk1"/>
                </a:solidFill>
              </a:rPr>
              <a:t> - Cause (e.g. Weather, Road defect)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2</a:t>
            </a:r>
            <a:r>
              <a:rPr lang="en-US" sz="2000" baseline="30000">
                <a:solidFill>
                  <a:schemeClr val="dk1"/>
                </a:solidFill>
              </a:rPr>
              <a:t>nd</a:t>
            </a:r>
            <a:r>
              <a:rPr lang="en-US" sz="2000">
                <a:solidFill>
                  <a:schemeClr val="dk1"/>
                </a:solidFill>
              </a:rPr>
              <a:t> - Consequence (e.g. Injuries, Fatal)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5" name="Google Shape;145;g3815933a22c_0_6"/>
          <p:cNvSpPr txBox="1"/>
          <p:nvPr/>
        </p:nvSpPr>
        <p:spPr>
          <a:xfrm>
            <a:off x="2674050" y="3218000"/>
            <a:ext cx="49947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Generalize 2</a:t>
            </a:r>
            <a:r>
              <a:rPr lang="en-US" sz="2000" baseline="30000">
                <a:solidFill>
                  <a:schemeClr val="dk1"/>
                </a:solidFill>
              </a:rPr>
              <a:t>nd</a:t>
            </a:r>
            <a:r>
              <a:rPr lang="en-US" sz="2000">
                <a:solidFill>
                  <a:schemeClr val="dk1"/>
                </a:solidFill>
              </a:rPr>
              <a:t> type into 1 “Y” value: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⇒ “has_injuries” (1: yes ; 0: no)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Then, drop all other 2</a:t>
            </a:r>
            <a:r>
              <a:rPr lang="en-US" sz="2000" baseline="30000">
                <a:solidFill>
                  <a:schemeClr val="dk1"/>
                </a:solidFill>
              </a:rPr>
              <a:t>nd</a:t>
            </a:r>
            <a:r>
              <a:rPr lang="en-US" sz="2000">
                <a:solidFill>
                  <a:schemeClr val="dk1"/>
                </a:solidFill>
              </a:rPr>
              <a:t> data type: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12 columns left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6" name="Google Shape;146;g3815933a22c_0_6"/>
          <p:cNvSpPr txBox="1"/>
          <p:nvPr/>
        </p:nvSpPr>
        <p:spPr>
          <a:xfrm>
            <a:off x="2674050" y="5074275"/>
            <a:ext cx="4706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Transform all the 1</a:t>
            </a:r>
            <a:r>
              <a:rPr lang="en-US" sz="2000" baseline="30000">
                <a:solidFill>
                  <a:schemeClr val="dk1"/>
                </a:solidFill>
              </a:rPr>
              <a:t>st</a:t>
            </a:r>
            <a:r>
              <a:rPr lang="en-US" sz="2000">
                <a:solidFill>
                  <a:schemeClr val="dk1"/>
                </a:solidFill>
              </a:rPr>
              <a:t> type data: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String → Integer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pic>
        <p:nvPicPr>
          <p:cNvPr id="147" name="Google Shape;147;g3815933a22c_0_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0450" y="1467400"/>
            <a:ext cx="1518900" cy="2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815933a22c_0_6"/>
          <p:cNvSpPr txBox="1"/>
          <p:nvPr/>
        </p:nvSpPr>
        <p:spPr>
          <a:xfrm>
            <a:off x="9036425" y="1467400"/>
            <a:ext cx="30351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Split the dataset: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-Training: 80%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-Testing: 20%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Why: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-143 trillion combinations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-200k records only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pic>
        <p:nvPicPr>
          <p:cNvPr id="149" name="Google Shape;149;g3815933a22c_0_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96650" y="3991427"/>
            <a:ext cx="1886500" cy="112439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815933a22c_0_6"/>
          <p:cNvSpPr txBox="1"/>
          <p:nvPr/>
        </p:nvSpPr>
        <p:spPr>
          <a:xfrm>
            <a:off x="9036425" y="3991425"/>
            <a:ext cx="30351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Resampling &amp; Weight Balance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51" name="Google Shape;151;g3815933a22c_0_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94694" y="4403269"/>
            <a:ext cx="2122450" cy="23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c684ef62_0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Metrics Used for Model Evaluation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157" name="Google Shape;157;g381c684ef62_0_8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9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03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b="1">
                <a:solidFill>
                  <a:srgbClr val="000000"/>
                </a:solidFill>
              </a:rPr>
              <a:t>Accuracy</a:t>
            </a:r>
            <a:endParaRPr sz="2400" b="1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Measures overall correctness of predictions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marL="228600" lvl="0" indent="-203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b="1">
                <a:solidFill>
                  <a:srgbClr val="000000"/>
                </a:solidFill>
              </a:rPr>
              <a:t>F1 Score</a:t>
            </a:r>
            <a:endParaRPr sz="2400" b="1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Examine the model’s ability to correctly identify 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both injury and no-injury cases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marL="228600" lvl="0" indent="-203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 b="1">
                <a:solidFill>
                  <a:srgbClr val="000000"/>
                </a:solidFill>
              </a:rPr>
              <a:t>F2 Score</a:t>
            </a:r>
            <a:endParaRPr sz="2400" b="1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How effectively the model identifies actual injury 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>
                <a:solidFill>
                  <a:srgbClr val="000000"/>
                </a:solidFill>
              </a:rPr>
              <a:t>cases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58" name="Google Shape;158;g381c684ef62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2750" y="2007700"/>
            <a:ext cx="3485000" cy="92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81c684ef62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9075" y="3252513"/>
            <a:ext cx="3552350" cy="103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81c684ef62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0250" y="4602650"/>
            <a:ext cx="383118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81c684ef62_0_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94147" y="243634"/>
            <a:ext cx="1568675" cy="15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182197fe2_0_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Model: Histogram-based Gradient Boosting Classification Tree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167" name="Google Shape;167;g38182197fe2_0_10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9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 b="1">
                <a:solidFill>
                  <a:srgbClr val="000000"/>
                </a:solidFill>
              </a:rPr>
              <a:t>Mechanism</a:t>
            </a:r>
            <a:endParaRPr sz="2000" b="1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handle large datasets with high performance</a:t>
            </a: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Bins continuous features into discrete intervals</a:t>
            </a: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Uses these bins to approximate split points, dramatically reducing computation</a:t>
            </a: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Each tree tries to correct the errors of the previous one</a:t>
            </a:r>
            <a:endParaRPr sz="2000">
              <a:solidFill>
                <a:srgbClr val="000000"/>
              </a:solidFill>
            </a:endParaRPr>
          </a:p>
          <a:p>
            <a:pPr marL="228600" lvl="0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 b="1">
                <a:solidFill>
                  <a:srgbClr val="000000"/>
                </a:solidFill>
              </a:rPr>
              <a:t>Approach 1: train with the originally split data</a:t>
            </a:r>
            <a:endParaRPr sz="2000" b="1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Accuracy: 73.69%</a:t>
            </a: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F1 Score: 0.427, F2 Score: 0.00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68" name="Google Shape;168;g38182197fe2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075" y="3641375"/>
            <a:ext cx="3875700" cy="28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8182197fe2_0_10" title="螢幕截圖 2025-09-21 下午9.45.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5950" y="4158325"/>
            <a:ext cx="3669775" cy="144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18cccc645_2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Model: Histogram-based Gradient Boosting Classification Tree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175" name="Google Shape;175;g3818cccc645_2_4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9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 b="1">
                <a:solidFill>
                  <a:srgbClr val="000000"/>
                </a:solidFill>
              </a:rPr>
              <a:t>Approach 2: Hyperparameter tuning using Randomized Search</a:t>
            </a:r>
            <a:endParaRPr sz="2000" b="1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Best Parameters: {'max_iter': 500, 'max_features': 1.0, 'max_depth': 7, 'learning_rate': 0.05, 'l2_regularization': 0.1}</a:t>
            </a: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Accuracy: 73.66%</a:t>
            </a: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F1 Score: 0.428, F2 Score: 0.00</a:t>
            </a: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Minimal variation between approach 1 and 2</a:t>
            </a:r>
            <a:endParaRPr sz="2000">
              <a:solidFill>
                <a:srgbClr val="000000"/>
              </a:solidFill>
            </a:endParaRPr>
          </a:p>
          <a:p>
            <a:pPr marL="6858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228600" lvl="0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 b="1">
                <a:solidFill>
                  <a:srgbClr val="000000"/>
                </a:solidFill>
              </a:rPr>
              <a:t>Approach 3: Train with resampled data</a:t>
            </a:r>
            <a:endParaRPr sz="2000" b="1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Accuracy: 55.04%</a:t>
            </a:r>
            <a:endParaRPr sz="2000">
              <a:solidFill>
                <a:srgbClr val="000000"/>
              </a:solidFill>
            </a:endParaRPr>
          </a:p>
          <a:p>
            <a:pPr marL="685800" lvl="1" indent="-241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F1 Score: 0.521, F2: Score: 0.48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76" name="Google Shape;176;g3818cccc645_2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1125" y="3206625"/>
            <a:ext cx="4411225" cy="32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182197fe2_0_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Model: Logistic Regression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182" name="Google Shape;182;g38182197fe2_0_15"/>
          <p:cNvSpPr txBox="1">
            <a:spLocks noGrp="1"/>
          </p:cNvSpPr>
          <p:nvPr>
            <p:ph type="body" idx="1"/>
          </p:nvPr>
        </p:nvSpPr>
        <p:spPr>
          <a:xfrm>
            <a:off x="838200" y="1571625"/>
            <a:ext cx="10515600" cy="5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</a:rPr>
              <a:t>Mechanism</a:t>
            </a:r>
            <a:endParaRPr sz="2000" b="1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supervised machine learning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for categorial problem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sigmoid function and log-odds concept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good at probability prediction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u="sng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u="sng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</a:rPr>
              <a:t>Rationale and Application</a:t>
            </a:r>
            <a:endParaRPr sz="2000" b="1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attributes of traffic accident for injury prediction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	→ classification &gt; clustering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	→ categorical value (i.e. has or no injuries) &gt; linear value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	→ probability: maximum likelihood estimation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Future extension: binomial prediction (1 / 0) ⇒ ordinal prediction (low / mid / high risk)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83" name="Google Shape;183;g38182197fe2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7050" y="1571625"/>
            <a:ext cx="6231974" cy="25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18cccc645_3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Model: Logistic Regression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189" name="Google Shape;189;g3818cccc645_3_1"/>
          <p:cNvSpPr txBox="1">
            <a:spLocks noGrp="1"/>
          </p:cNvSpPr>
          <p:nvPr>
            <p:ph type="body" idx="1"/>
          </p:nvPr>
        </p:nvSpPr>
        <p:spPr>
          <a:xfrm>
            <a:off x="47475" y="1571625"/>
            <a:ext cx="3422700" cy="5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0000"/>
                </a:solidFill>
              </a:rPr>
              <a:t>Performance</a:t>
            </a:r>
            <a:endParaRPr sz="2000" u="sng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</p:txBody>
      </p:sp>
      <p:pic>
        <p:nvPicPr>
          <p:cNvPr id="190" name="Google Shape;190;g3818cccc645_3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71" y="1946725"/>
            <a:ext cx="3135200" cy="4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818cccc645_3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169" y="2378250"/>
            <a:ext cx="3135199" cy="3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818cccc645_3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169" y="3301925"/>
            <a:ext cx="3135201" cy="234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818cccc645_3_1"/>
          <p:cNvSpPr txBox="1">
            <a:spLocks noGrp="1"/>
          </p:cNvSpPr>
          <p:nvPr>
            <p:ph type="body" idx="1"/>
          </p:nvPr>
        </p:nvSpPr>
        <p:spPr>
          <a:xfrm>
            <a:off x="3362771" y="1571625"/>
            <a:ext cx="4404900" cy="5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0000"/>
                </a:solidFill>
              </a:rPr>
              <a:t>Tuning: Randomized Search</a:t>
            </a:r>
            <a:endParaRPr sz="2000" u="sng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</p:txBody>
      </p:sp>
      <p:sp>
        <p:nvSpPr>
          <p:cNvPr id="194" name="Google Shape;194;g3818cccc645_3_1"/>
          <p:cNvSpPr txBox="1">
            <a:spLocks noGrp="1"/>
          </p:cNvSpPr>
          <p:nvPr>
            <p:ph type="body" idx="1"/>
          </p:nvPr>
        </p:nvSpPr>
        <p:spPr>
          <a:xfrm>
            <a:off x="8271950" y="1571625"/>
            <a:ext cx="3634200" cy="5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0000"/>
                </a:solidFill>
              </a:rPr>
              <a:t>Tuning: Bayesian Optimization</a:t>
            </a:r>
            <a:endParaRPr sz="2000" u="sng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</p:txBody>
      </p:sp>
      <p:sp>
        <p:nvSpPr>
          <p:cNvPr id="195" name="Google Shape;195;g3818cccc645_3_1"/>
          <p:cNvSpPr txBox="1"/>
          <p:nvPr/>
        </p:nvSpPr>
        <p:spPr>
          <a:xfrm>
            <a:off x="137175" y="5732050"/>
            <a:ext cx="119244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Unexpected Finding: the results after resampling / tuning are not “much” better; it may be even worse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Side Finding: there is NO Overfitting / Underfitting problem (as seen by use of “penalty” and “C” hyperparameter control of regularization strength) </a:t>
            </a:r>
            <a:r>
              <a:rPr lang="en-US" sz="1200">
                <a:solidFill>
                  <a:schemeClr val="dk1"/>
                </a:solidFill>
              </a:rPr>
              <a:t>see ref.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pic>
        <p:nvPicPr>
          <p:cNvPr id="196" name="Google Shape;196;g3818cccc645_3_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54001" y="1946725"/>
            <a:ext cx="4730050" cy="4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818cccc645_3_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54001" y="2378250"/>
            <a:ext cx="4730050" cy="3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818cccc645_3_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11925" y="3388800"/>
            <a:ext cx="3135201" cy="2343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818cccc645_3_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65675" y="2022763"/>
            <a:ext cx="3732101" cy="5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818cccc645_3_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65675" y="2646225"/>
            <a:ext cx="3732100" cy="4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818cccc645_3_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365675" y="3231325"/>
            <a:ext cx="3732100" cy="3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818cccc645_3_1" title="螢幕截圖 2025-09-22 下午10.50.33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7175" y="2783525"/>
            <a:ext cx="3135199" cy="43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818cccc645_3_1" title="螢幕截圖 2025-09-22 下午10.49.46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50998" y="2783525"/>
            <a:ext cx="4730050" cy="4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182197fe2_0_2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Model: Random Forest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209" name="Google Shape;209;g38182197fe2_0_20"/>
          <p:cNvSpPr txBox="1">
            <a:spLocks noGrp="1"/>
          </p:cNvSpPr>
          <p:nvPr>
            <p:ph type="body" idx="1"/>
          </p:nvPr>
        </p:nvSpPr>
        <p:spPr>
          <a:xfrm>
            <a:off x="0" y="1133550"/>
            <a:ext cx="4431900" cy="51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/>
              <a:t>Mechanism</a:t>
            </a:r>
            <a:endParaRPr sz="2000" b="1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●"/>
            </a:pPr>
            <a:r>
              <a:rPr lang="en-US" sz="1700"/>
              <a:t>Builds many decision trees using random data samples</a:t>
            </a:r>
            <a:endParaRPr sz="17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●"/>
            </a:pPr>
            <a:r>
              <a:rPr lang="en-US" sz="1700"/>
              <a:t>Each tree uses random features for splitting nodes</a:t>
            </a:r>
            <a:endParaRPr sz="17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●"/>
            </a:pPr>
            <a:r>
              <a:rPr lang="en-US" sz="1700"/>
              <a:t>Final prediction is based on majority vote from all trees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Advantages</a:t>
            </a:r>
            <a:endParaRPr sz="17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●"/>
            </a:pPr>
            <a:r>
              <a:rPr lang="en-US" sz="1700"/>
              <a:t>Can handle multi-dimensional, mixed-type data</a:t>
            </a:r>
            <a:endParaRPr sz="17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●"/>
            </a:pPr>
            <a:r>
              <a:rPr lang="en-US" sz="1700"/>
              <a:t>Reduces overfitting compared to a single decision tree</a:t>
            </a:r>
            <a:endParaRPr sz="17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●"/>
            </a:pPr>
            <a:r>
              <a:rPr lang="en-US" sz="1700"/>
              <a:t>Works without needing complex data scaling or preprocessing, suitable for datasets with both categorical and numerical features </a:t>
            </a:r>
            <a:endParaRPr sz="1700"/>
          </a:p>
        </p:txBody>
      </p:sp>
      <p:pic>
        <p:nvPicPr>
          <p:cNvPr id="210" name="Google Shape;210;g38182197fe2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488" y="6288963"/>
            <a:ext cx="10867025" cy="36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8182197fe2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1900" y="1281274"/>
            <a:ext cx="7668874" cy="395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1851daf5e_0_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Model: Random Forest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217" name="Google Shape;217;g381851daf5e_0_2"/>
          <p:cNvSpPr txBox="1">
            <a:spLocks noGrp="1"/>
          </p:cNvSpPr>
          <p:nvPr>
            <p:ph type="body" idx="1"/>
          </p:nvPr>
        </p:nvSpPr>
        <p:spPr>
          <a:xfrm>
            <a:off x="65775" y="1006475"/>
            <a:ext cx="9879600" cy="58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/>
              <a:t>Approach 1: </a:t>
            </a:r>
            <a:r>
              <a:rPr lang="en-US" sz="2000" b="1">
                <a:solidFill>
                  <a:srgbClr val="000000"/>
                </a:solidFill>
              </a:rPr>
              <a:t>Train with the </a:t>
            </a:r>
            <a:r>
              <a:rPr lang="en-US" sz="2000" b="1">
                <a:solidFill>
                  <a:srgbClr val="274E13"/>
                </a:solidFill>
              </a:rPr>
              <a:t>originally split data</a:t>
            </a:r>
            <a:endParaRPr sz="2000" b="1">
              <a:solidFill>
                <a:srgbClr val="274E13"/>
              </a:solidFill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u="sng"/>
              <a:t>Performance</a:t>
            </a:r>
            <a:endParaRPr sz="1800" u="sng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Random Forest Classifier Accuracy: 68.67%</a:t>
            </a:r>
            <a:endParaRPr sz="18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F1 score : 0.49</a:t>
            </a:r>
            <a:endParaRPr sz="18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F2 score: 0.15</a:t>
            </a:r>
            <a:endParaRPr sz="189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91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/>
              <a:t>Approach 2: </a:t>
            </a:r>
            <a:r>
              <a:rPr lang="en-US" sz="2000" b="1">
                <a:solidFill>
                  <a:srgbClr val="000000"/>
                </a:solidFill>
              </a:rPr>
              <a:t>Train new Random Forest with </a:t>
            </a:r>
            <a:r>
              <a:rPr lang="en-US" sz="2000" b="1">
                <a:solidFill>
                  <a:srgbClr val="274E13"/>
                </a:solidFill>
              </a:rPr>
              <a:t>Selected Importance Features</a:t>
            </a:r>
            <a:br>
              <a:rPr lang="en-US" sz="2000" b="1">
                <a:solidFill>
                  <a:srgbClr val="000000"/>
                </a:solidFill>
              </a:rPr>
            </a:br>
            <a:br>
              <a:rPr lang="en-US" sz="20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- To reduce noise  - helps avoid overfitting</a:t>
            </a:r>
            <a:br>
              <a:rPr lang="en-US" sz="1800">
                <a:solidFill>
                  <a:srgbClr val="000000"/>
                </a:solidFill>
              </a:rPr>
            </a:br>
            <a:br>
              <a:rPr lang="en-US" sz="20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Selected features: ['crash_hour', 'crash_month',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'crash_day_of_week', 'trafficway_type',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'traffic_control_device', 'weather_condition',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'lighting_condition', 'road_defect', 'roadway_surface_cond',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'alignment']</a:t>
            </a:r>
            <a:endParaRPr sz="18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 u="sng"/>
            </a:br>
            <a:r>
              <a:rPr lang="en-US" sz="1800" u="sng"/>
              <a:t>Performance</a:t>
            </a:r>
            <a:endParaRPr sz="1800" u="sng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Accuracy after feature selection: 68.64%</a:t>
            </a:r>
            <a:endParaRPr sz="18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F1 score after feature selection: 0.49</a:t>
            </a:r>
            <a:endParaRPr sz="18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F2 score after feature selection: 0.15</a:t>
            </a:r>
            <a:endParaRPr sz="1800">
              <a:solidFill>
                <a:srgbClr val="000000"/>
              </a:solidFill>
            </a:endParaRPr>
          </a:p>
          <a:p>
            <a:pPr marL="457200" lvl="0" indent="-3487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92"/>
              <a:buChar char="➔"/>
            </a:pPr>
            <a:r>
              <a:rPr lang="en-US" sz="1891">
                <a:solidFill>
                  <a:srgbClr val="000000"/>
                </a:solidFill>
              </a:rPr>
              <a:t>No difference</a:t>
            </a:r>
            <a:endParaRPr sz="1891">
              <a:solidFill>
                <a:srgbClr val="000000"/>
              </a:solidFill>
            </a:endParaRPr>
          </a:p>
        </p:txBody>
      </p:sp>
      <p:pic>
        <p:nvPicPr>
          <p:cNvPr id="218" name="Google Shape;218;g381851daf5e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4925" y="3417525"/>
            <a:ext cx="3291500" cy="32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81851daf5e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5950" y="73000"/>
            <a:ext cx="3738975" cy="27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81851daf5e_0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17896" y="3055296"/>
            <a:ext cx="1945425" cy="365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1851daf5e_0_17"/>
          <p:cNvSpPr txBox="1">
            <a:spLocks noGrp="1"/>
          </p:cNvSpPr>
          <p:nvPr>
            <p:ph type="title"/>
          </p:nvPr>
        </p:nvSpPr>
        <p:spPr>
          <a:xfrm>
            <a:off x="9101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Model: Random Forest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226" name="Google Shape;226;g381851daf5e_0_17"/>
          <p:cNvSpPr txBox="1">
            <a:spLocks noGrp="1"/>
          </p:cNvSpPr>
          <p:nvPr>
            <p:ph type="body" idx="1"/>
          </p:nvPr>
        </p:nvSpPr>
        <p:spPr>
          <a:xfrm>
            <a:off x="0" y="1010900"/>
            <a:ext cx="8326200" cy="57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/>
              <a:t>Approach 3: Hyperparameter tuning using </a:t>
            </a:r>
            <a:r>
              <a:rPr lang="en-US" sz="2000" b="1">
                <a:solidFill>
                  <a:srgbClr val="274E13"/>
                </a:solidFill>
              </a:rPr>
              <a:t>Randomized Search</a:t>
            </a:r>
            <a:endParaRPr sz="2000">
              <a:solidFill>
                <a:srgbClr val="274E13"/>
              </a:solidFill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 u="sng"/>
              <a:t>Performance</a:t>
            </a:r>
            <a:endParaRPr sz="20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Accuracy after Randomized Search: 73.64%</a:t>
            </a:r>
            <a:endParaRPr sz="20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F1 score after Randomized Search: 0.42</a:t>
            </a:r>
            <a:endParaRPr sz="20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F2 score after Randomized Search: 0.15</a:t>
            </a:r>
            <a:endParaRPr sz="2000">
              <a:solidFill>
                <a:srgbClr val="000000"/>
              </a:solidFill>
            </a:endParaRPr>
          </a:p>
          <a:p>
            <a:pPr marL="457200" lvl="0" indent="-33432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0000"/>
              <a:buChar char="➔"/>
            </a:pPr>
            <a:r>
              <a:rPr lang="en-US" sz="2000">
                <a:solidFill>
                  <a:srgbClr val="000000"/>
                </a:solidFill>
              </a:rPr>
              <a:t>Accuracy increase from 68.67% to 73.64%, but F1 score decrease from 0.49 to 0.42 </a:t>
            </a:r>
            <a:endParaRPr sz="20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</a:rPr>
              <a:t>Further tuning: </a:t>
            </a:r>
            <a:br>
              <a:rPr lang="en-US" sz="2000" b="1">
                <a:solidFill>
                  <a:srgbClr val="000000"/>
                </a:solidFill>
              </a:rPr>
            </a:br>
            <a:r>
              <a:rPr lang="en-US" sz="2000" b="1">
                <a:solidFill>
                  <a:srgbClr val="000000"/>
                </a:solidFill>
              </a:rPr>
              <a:t>Validate Random Forest hyperparameter tuning using </a:t>
            </a:r>
            <a:r>
              <a:rPr lang="en-US" sz="2000" b="1">
                <a:solidFill>
                  <a:srgbClr val="274E13"/>
                </a:solidFill>
              </a:rPr>
              <a:t>Cross-validation</a:t>
            </a:r>
            <a:r>
              <a:rPr lang="en-US" sz="2000" b="1">
                <a:solidFill>
                  <a:srgbClr val="000000"/>
                </a:solidFill>
              </a:rPr>
              <a:t> with F1 score as the scoring metric in Randomized Search</a:t>
            </a:r>
            <a:endParaRPr sz="2000" b="1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8">
                <a:solidFill>
                  <a:srgbClr val="000000"/>
                </a:solidFill>
              </a:rPr>
              <a:t>- To ensure stable, balanced estimation  - To reduce overfitting risk</a:t>
            </a:r>
            <a:endParaRPr sz="1908">
              <a:solidFill>
                <a:srgbClr val="000000"/>
              </a:solidFill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800" u="sng"/>
              <a:t>Performance</a:t>
            </a:r>
            <a:endParaRPr sz="2000" b="1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274E13"/>
                </a:solidFill>
              </a:rPr>
              <a:t>Best cross-validated F1 score: 0.48</a:t>
            </a:r>
            <a:endParaRPr sz="2000" b="1">
              <a:solidFill>
                <a:srgbClr val="274E13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Test accuracy after cross-validation: 71.20%</a:t>
            </a:r>
            <a:endParaRPr sz="20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Test F1 score after cross-validation: 0.48</a:t>
            </a:r>
            <a:endParaRPr sz="2000">
              <a:solidFill>
                <a:srgbClr val="00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Test F2 score after cross-validation: 0.49</a:t>
            </a:r>
            <a:endParaRPr sz="2000">
              <a:solidFill>
                <a:srgbClr val="000000"/>
              </a:solidFill>
            </a:endParaRPr>
          </a:p>
          <a:p>
            <a:pPr marL="457200" lvl="0" indent="-346075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➔"/>
            </a:pPr>
            <a:r>
              <a:rPr lang="en-US" sz="2000"/>
              <a:t>F1 score increase from 0.42 to 0.48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227" name="Google Shape;227;g381851daf5e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3600" y="292025"/>
            <a:ext cx="3843100" cy="2872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81851daf5e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9025" y="3712475"/>
            <a:ext cx="3843090" cy="287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1851daf5e_0_29"/>
          <p:cNvSpPr txBox="1">
            <a:spLocks noGrp="1"/>
          </p:cNvSpPr>
          <p:nvPr>
            <p:ph type="title"/>
          </p:nvPr>
        </p:nvSpPr>
        <p:spPr>
          <a:xfrm>
            <a:off x="9101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Model: Random Forest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234" name="Google Shape;234;g381851daf5e_0_29"/>
          <p:cNvSpPr txBox="1">
            <a:spLocks noGrp="1"/>
          </p:cNvSpPr>
          <p:nvPr>
            <p:ph type="body" idx="1"/>
          </p:nvPr>
        </p:nvSpPr>
        <p:spPr>
          <a:xfrm>
            <a:off x="0" y="1010900"/>
            <a:ext cx="8137200" cy="58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/>
              <a:t>Approach 3: Hyperparameter tuning using Randomized Search</a:t>
            </a:r>
            <a:endParaRPr sz="2000" b="1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/>
              <a:t>Further tuning:</a:t>
            </a:r>
            <a:br>
              <a:rPr lang="en-US" sz="2000" b="1"/>
            </a:br>
            <a:r>
              <a:rPr lang="en-US" sz="2000" b="1"/>
              <a:t>Initialize model again with </a:t>
            </a:r>
            <a:r>
              <a:rPr lang="en-US" sz="2000" b="1">
                <a:solidFill>
                  <a:srgbClr val="274E13"/>
                </a:solidFill>
              </a:rPr>
              <a:t>class_weight balanced</a:t>
            </a:r>
            <a:endParaRPr sz="2000" b="1">
              <a:solidFill>
                <a:srgbClr val="274E13"/>
              </a:solidFill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to prevent class imbalanced</a:t>
            </a:r>
            <a:endParaRPr sz="20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u="sng"/>
              <a:t>Performance</a:t>
            </a:r>
            <a:endParaRPr sz="20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Accuracy with class_weight balanced: 60.07%</a:t>
            </a:r>
            <a:endParaRPr sz="20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F1 score with class_weight balanced : 0.54</a:t>
            </a:r>
            <a:endParaRPr sz="20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F2 Score with class_weight balanced: 0.54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➔"/>
            </a:pPr>
            <a:r>
              <a:rPr lang="en-US" sz="2000"/>
              <a:t>The highest F1 &amp; F2 score: 0.54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-US" sz="2000"/>
              <a:t>Reducing bias towards majority classes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1"/>
              <a:t>Approach 4: Tuning with </a:t>
            </a:r>
            <a:r>
              <a:rPr lang="en-US" sz="2000" b="1">
                <a:solidFill>
                  <a:srgbClr val="274E13"/>
                </a:solidFill>
              </a:rPr>
              <a:t>Bayesian Optimization</a:t>
            </a:r>
            <a:endParaRPr sz="2000" b="1">
              <a:solidFill>
                <a:srgbClr val="274E13"/>
              </a:solidFill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u="sng"/>
              <a:t>Performance</a:t>
            </a:r>
            <a:endParaRPr sz="20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Test Accuracy with Bayesian Optimization: 66.33%</a:t>
            </a:r>
            <a:endParaRPr sz="20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Test F1 Score with Bayesian Optimization: 0.50</a:t>
            </a:r>
            <a:endParaRPr sz="2000"/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Test F2 Score with Bayesian Optimization: 0.50</a:t>
            </a:r>
            <a:endParaRPr sz="2000"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➔"/>
            </a:pPr>
            <a:r>
              <a:rPr lang="en-US" sz="2000">
                <a:solidFill>
                  <a:srgbClr val="000000"/>
                </a:solidFill>
              </a:rPr>
              <a:t>Higher accuracy with high F2 &amp; F2 score</a:t>
            </a:r>
            <a:endParaRPr sz="200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➔"/>
            </a:pPr>
            <a:r>
              <a:rPr lang="en-US" sz="2000">
                <a:solidFill>
                  <a:srgbClr val="000000"/>
                </a:solidFill>
              </a:rPr>
              <a:t>Achieve better tuning results more quickly on imbalanced datasets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235" name="Google Shape;235;g381851daf5e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4416" y="301200"/>
            <a:ext cx="4007725" cy="299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381851daf5e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9043" y="3594700"/>
            <a:ext cx="4142376" cy="30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>
            <a:spLocks noGrp="1"/>
          </p:cNvSpPr>
          <p:nvPr>
            <p:ph type="title"/>
          </p:nvPr>
        </p:nvSpPr>
        <p:spPr>
          <a:xfrm>
            <a:off x="910100" y="77201"/>
            <a:ext cx="105156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ct val="1000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Comparison</a:t>
            </a:r>
            <a:endParaRPr b="1">
              <a:solidFill>
                <a:srgbClr val="0F4862"/>
              </a:solidFill>
            </a:endParaRPr>
          </a:p>
        </p:txBody>
      </p:sp>
      <p:pic>
        <p:nvPicPr>
          <p:cNvPr id="242" name="Google Shape;24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5327" y="1347295"/>
            <a:ext cx="3773425" cy="49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8354" y="1347297"/>
            <a:ext cx="3831391" cy="499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139" y="1347295"/>
            <a:ext cx="3882624" cy="49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>
            <a:spLocks noGrp="1"/>
          </p:cNvSpPr>
          <p:nvPr>
            <p:ph type="body" idx="1"/>
          </p:nvPr>
        </p:nvSpPr>
        <p:spPr>
          <a:xfrm>
            <a:off x="4281200" y="825050"/>
            <a:ext cx="37734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74E13"/>
                </a:solidFill>
              </a:rPr>
              <a:t>Classification Report</a:t>
            </a:r>
            <a:endParaRPr sz="2200" b="1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g381851daf5e_0_73"/>
          <p:cNvGraphicFramePr/>
          <p:nvPr/>
        </p:nvGraphicFramePr>
        <p:xfrm>
          <a:off x="473400" y="670047"/>
          <a:ext cx="11245175" cy="6099840"/>
        </p:xfrm>
        <a:graphic>
          <a:graphicData uri="http://schemas.openxmlformats.org/drawingml/2006/table">
            <a:tbl>
              <a:tblPr>
                <a:noFill/>
                <a:tableStyleId>{7C03D4E0-A8FB-4BD7-A2B5-F25B4057C498}</a:tableStyleId>
              </a:tblPr>
              <a:tblGrid>
                <a:gridCol w="303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9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9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solidFill>
                            <a:srgbClr val="12511B"/>
                          </a:solidFill>
                        </a:rPr>
                        <a:t>Model</a:t>
                      </a:r>
                      <a:endParaRPr sz="2200" b="1">
                        <a:solidFill>
                          <a:srgbClr val="12511B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solidFill>
                            <a:srgbClr val="12511B"/>
                          </a:solidFill>
                        </a:rPr>
                        <a:t>Methods</a:t>
                      </a:r>
                      <a:endParaRPr sz="2200" b="1">
                        <a:solidFill>
                          <a:srgbClr val="12511B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solidFill>
                            <a:srgbClr val="12511B"/>
                          </a:solidFill>
                        </a:rPr>
                        <a:t>Accuracy</a:t>
                      </a:r>
                      <a:endParaRPr sz="2200" b="1">
                        <a:solidFill>
                          <a:srgbClr val="12511B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solidFill>
                            <a:srgbClr val="12511B"/>
                          </a:solidFill>
                        </a:rPr>
                        <a:t>F1 Score</a:t>
                      </a:r>
                      <a:endParaRPr sz="2200" b="1">
                        <a:solidFill>
                          <a:srgbClr val="12511B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>
                          <a:solidFill>
                            <a:srgbClr val="12511B"/>
                          </a:solidFill>
                        </a:rPr>
                        <a:t>F2 Score</a:t>
                      </a:r>
                      <a:endParaRPr sz="2200" b="1">
                        <a:solidFill>
                          <a:srgbClr val="12511B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950"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1. Histogram-based Gradient Boosting Classification Tree</a:t>
                      </a:r>
                      <a:endParaRPr sz="16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Originally training dataset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73.65%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0.43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0.00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Randomized search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73.66%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0.43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0.00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Resampling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53.92%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0.51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0.48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25"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/>
                        <a:t>2. Logistic Regression</a:t>
                      </a:r>
                      <a:endParaRPr sz="16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Originally training data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73.65%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0.42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0.00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Randomized search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48.69%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0.47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0.50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Bayesian Optimization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74.03%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9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dk1"/>
                          </a:solidFill>
                        </a:rPr>
                        <a:t>3. Random Forest</a:t>
                      </a:r>
                      <a:endParaRPr sz="16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Originally training dataset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68.67%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0.49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0.15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Randomized search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73.64%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0.42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0.50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Cross-validation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71.20%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0.48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0.49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9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With class_weight balanced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60.7%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0.54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0.54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99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Bayesian Optimization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66.33%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0.50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0.50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0C0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1" name="Google Shape;251;g381851daf5e_0_73"/>
          <p:cNvSpPr txBox="1">
            <a:spLocks noGrp="1"/>
          </p:cNvSpPr>
          <p:nvPr>
            <p:ph type="title"/>
          </p:nvPr>
        </p:nvSpPr>
        <p:spPr>
          <a:xfrm>
            <a:off x="910100" y="0"/>
            <a:ext cx="105156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ct val="1000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Comparison</a:t>
            </a:r>
            <a:endParaRPr b="1">
              <a:solidFill>
                <a:srgbClr val="0F486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1851daf5e_0_45"/>
          <p:cNvSpPr txBox="1">
            <a:spLocks noGrp="1"/>
          </p:cNvSpPr>
          <p:nvPr>
            <p:ph type="title"/>
          </p:nvPr>
        </p:nvSpPr>
        <p:spPr>
          <a:xfrm>
            <a:off x="2215700" y="5300"/>
            <a:ext cx="8051400" cy="13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Challenges and Limitations</a:t>
            </a:r>
            <a:endParaRPr b="1">
              <a:solidFill>
                <a:srgbClr val="0F4862"/>
              </a:solidFill>
            </a:endParaRPr>
          </a:p>
        </p:txBody>
      </p:sp>
      <p:graphicFrame>
        <p:nvGraphicFramePr>
          <p:cNvPr id="257" name="Google Shape;257;g381851daf5e_0_45"/>
          <p:cNvGraphicFramePr/>
          <p:nvPr/>
        </p:nvGraphicFramePr>
        <p:xfrm>
          <a:off x="351692" y="1354482"/>
          <a:ext cx="11495150" cy="4788986"/>
        </p:xfrm>
        <a:graphic>
          <a:graphicData uri="http://schemas.openxmlformats.org/drawingml/2006/table">
            <a:tbl>
              <a:tblPr firstRow="1" bandRow="1">
                <a:noFill/>
                <a:tableStyleId>{F2B9417F-2BB3-43C4-A3B2-CC966DB18093}</a:tableStyleId>
              </a:tblPr>
              <a:tblGrid>
                <a:gridCol w="574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>
                          <a:solidFill>
                            <a:srgbClr val="1251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Challenges and Limitations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1251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Future</a:t>
                      </a:r>
                      <a:r>
                        <a:rPr lang="en-US" sz="2400" b="1" i="0" u="none" strike="noStrike">
                          <a:solidFill>
                            <a:srgbClr val="1251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Improvements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 imbalance in test set</a:t>
                      </a:r>
                      <a:endParaRPr sz="2000" b="0" i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Better way of resampling</a:t>
                      </a:r>
                      <a:endParaRPr sz="2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Further refine the models (e.g. use precision-recall Curve to maximize the recall)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/>
                        <a:t>Noisy features (e.g. alignment, intersection_related_i) hinders the performance</a:t>
                      </a:r>
                      <a:endParaRPr sz="200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Deeper EDA and revisit the feature importance of each attributes for future preprocessing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/>
                        <a:t>Too vague to only output 0 (no injuries) and 1 (has injury)</a:t>
                      </a:r>
                      <a:endParaRPr sz="2000"/>
                    </a:p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 to ordinal prediction (high / mid / low risk), or even a generated probability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Too general for “has_injuries” only</a:t>
                      </a:r>
                      <a:endParaRPr sz="2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Break down to mild, incapacitating, fatal injuries prediction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18cccc645_4_0"/>
          <p:cNvSpPr/>
          <p:nvPr/>
        </p:nvSpPr>
        <p:spPr>
          <a:xfrm>
            <a:off x="76025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818cccc645_4_0"/>
          <p:cNvSpPr txBox="1">
            <a:spLocks noGrp="1"/>
          </p:cNvSpPr>
          <p:nvPr>
            <p:ph type="title"/>
          </p:nvPr>
        </p:nvSpPr>
        <p:spPr>
          <a:xfrm>
            <a:off x="1629751" y="113192"/>
            <a:ext cx="89244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Demonstration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264" name="Google Shape;264;g3818cccc645_4_0"/>
          <p:cNvSpPr/>
          <p:nvPr/>
        </p:nvSpPr>
        <p:spPr>
          <a:xfrm>
            <a:off x="1293825" y="1182119"/>
            <a:ext cx="9604374" cy="5576022"/>
          </a:xfrm>
          <a:custGeom>
            <a:avLst/>
            <a:gdLst/>
            <a:ahLst/>
            <a:cxnLst/>
            <a:rect l="l" t="t" r="r" b="b"/>
            <a:pathLst>
              <a:path w="9604374" h="3585866" extrusionOk="0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49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818cccc645_4_0"/>
          <p:cNvSpPr/>
          <p:nvPr/>
        </p:nvSpPr>
        <p:spPr>
          <a:xfrm>
            <a:off x="5421727" y="959038"/>
            <a:ext cx="1348593" cy="407254"/>
          </a:xfrm>
          <a:custGeom>
            <a:avLst/>
            <a:gdLst/>
            <a:ahLst/>
            <a:cxnLst/>
            <a:rect l="l" t="t" r="r" b="b"/>
            <a:pathLst>
              <a:path w="2201784" h="594531" extrusionOk="0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49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818cccc645_4_0"/>
          <p:cNvSpPr txBox="1">
            <a:spLocks noGrp="1"/>
          </p:cNvSpPr>
          <p:nvPr>
            <p:ph type="body" idx="1"/>
          </p:nvPr>
        </p:nvSpPr>
        <p:spPr>
          <a:xfrm>
            <a:off x="1941207" y="1307726"/>
            <a:ext cx="8309700" cy="27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Be practical; let the machine learning jump out of machine.</a:t>
            </a:r>
            <a:endParaRPr sz="20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Real world application: analyze and assess the risk of injurable traffic accident under certain road conditions</a:t>
            </a:r>
            <a:endParaRPr sz="20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Traceable and Explanatory (audit trail in commercial world)</a:t>
            </a:r>
            <a:endParaRPr sz="2000"/>
          </a:p>
          <a:p>
            <a:pPr marL="22860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2000"/>
          </a:p>
          <a:p>
            <a:pPr marL="22860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2000"/>
          </a:p>
        </p:txBody>
      </p:sp>
      <p:pic>
        <p:nvPicPr>
          <p:cNvPr id="267" name="Google Shape;267;g3818cccc645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675" y="3037500"/>
            <a:ext cx="6040699" cy="34312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0" y="-1"/>
            <a:ext cx="11766176" cy="2061837"/>
          </a:xfrm>
          <a:custGeom>
            <a:avLst/>
            <a:gdLst/>
            <a:ahLst/>
            <a:cxnLst/>
            <a:rect l="l" t="t" r="r" b="b"/>
            <a:pathLst>
              <a:path w="10768629" h="1978172" extrusionOk="0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0"/>
          <p:cNvSpPr txBox="1"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Conclusion</a:t>
            </a:r>
            <a:endParaRPr b="1">
              <a:solidFill>
                <a:srgbClr val="0F4862"/>
              </a:solidFill>
            </a:endParaRPr>
          </a:p>
        </p:txBody>
      </p:sp>
      <p:sp>
        <p:nvSpPr>
          <p:cNvPr id="275" name="Google Shape;275;p20"/>
          <p:cNvSpPr txBox="1">
            <a:spLocks noGrp="1"/>
          </p:cNvSpPr>
          <p:nvPr>
            <p:ph type="body" idx="1"/>
          </p:nvPr>
        </p:nvSpPr>
        <p:spPr>
          <a:xfrm>
            <a:off x="883026" y="2060775"/>
            <a:ext cx="10965600" cy="40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2200"/>
              <a:t>Similar performance for all 3 models</a:t>
            </a:r>
            <a:endParaRPr sz="2200"/>
          </a:p>
          <a:p>
            <a:pPr marL="2286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No obvious overfitting / underfitting problem</a:t>
            </a:r>
            <a:endParaRPr sz="2200"/>
          </a:p>
          <a:p>
            <a:pPr marL="2286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No “significant” improvement though Hyperparameter Tuning</a:t>
            </a:r>
            <a:endParaRPr sz="2200"/>
          </a:p>
          <a:p>
            <a:pPr marL="2286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Sampling imbalance (1:3) in nature as the biggest challenge</a:t>
            </a:r>
            <a:endParaRPr sz="2200"/>
          </a:p>
          <a:p>
            <a:pPr marL="228600" lvl="0" indent="-190500" algn="l" rtl="0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But a nearly 75% true prediction is encouraging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0F4862"/>
                </a:solidFill>
                <a:latin typeface="Play"/>
                <a:ea typeface="Play"/>
                <a:cs typeface="Play"/>
                <a:sym typeface="Play"/>
              </a:rPr>
              <a:t>   Insight: Machine can never be human</a:t>
            </a:r>
            <a:endParaRPr sz="4400" b="1">
              <a:solidFill>
                <a:srgbClr val="0F4862"/>
              </a:solidFill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rgbClr val="0F4862"/>
              </a:solidFill>
              <a:latin typeface="Play"/>
              <a:ea typeface="Play"/>
              <a:cs typeface="Play"/>
              <a:sym typeface="Play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Machine learns from logic (classification / clustering) and calculation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→ all in “no injuries”</a:t>
            </a:r>
            <a:endParaRPr sz="2200"/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2200"/>
              <a:t>Human interprets meaning behind with sense of secure and fear to risk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→ prefer warning of “injury” risk</a:t>
            </a:r>
            <a:endParaRPr sz="2200"/>
          </a:p>
        </p:txBody>
      </p:sp>
      <p:sp>
        <p:nvSpPr>
          <p:cNvPr id="276" name="Google Shape;276;p20"/>
          <p:cNvSpPr/>
          <p:nvPr/>
        </p:nvSpPr>
        <p:spPr>
          <a:xfrm rot="10800000">
            <a:off x="5381624" y="6209414"/>
            <a:ext cx="6810375" cy="648586"/>
          </a:xfrm>
          <a:custGeom>
            <a:avLst/>
            <a:gdLst/>
            <a:ahLst/>
            <a:cxnLst/>
            <a:rect l="l" t="t" r="r" b="b"/>
            <a:pathLst>
              <a:path w="10753706" h="1027260" extrusionOk="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5850" y="1940450"/>
            <a:ext cx="1849152" cy="17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 txBox="1"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2"/>
              </a:buClr>
              <a:buSzPts val="4400"/>
              <a:buFont typeface="Play"/>
              <a:buNone/>
            </a:pPr>
            <a:r>
              <a:rPr lang="en-US" b="1">
                <a:solidFill>
                  <a:srgbClr val="0F4862"/>
                </a:solidFill>
              </a:rPr>
              <a:t>Reference</a:t>
            </a:r>
            <a:endParaRPr>
              <a:solidFill>
                <a:srgbClr val="0F4862"/>
              </a:solidFill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1293813" y="2337807"/>
            <a:ext cx="9604374" cy="3585866"/>
          </a:xfrm>
          <a:custGeom>
            <a:avLst/>
            <a:gdLst/>
            <a:ahLst/>
            <a:cxnLst/>
            <a:rect l="l" t="t" r="r" b="b"/>
            <a:pathLst>
              <a:path w="9604374" h="3585866" extrusionOk="0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5421727" y="2190741"/>
            <a:ext cx="1348547" cy="407804"/>
          </a:xfrm>
          <a:custGeom>
            <a:avLst/>
            <a:gdLst/>
            <a:ahLst/>
            <a:cxnLst/>
            <a:rect l="l" t="t" r="r" b="b"/>
            <a:pathLst>
              <a:path w="2201784" h="594531" extrusionOk="0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 txBox="1">
            <a:spLocks noGrp="1"/>
          </p:cNvSpPr>
          <p:nvPr>
            <p:ph type="body" idx="1"/>
          </p:nvPr>
        </p:nvSpPr>
        <p:spPr>
          <a:xfrm>
            <a:off x="1941207" y="2752316"/>
            <a:ext cx="8309586" cy="275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600" u="sng">
                <a:solidFill>
                  <a:schemeClr val="hlink"/>
                </a:solidFill>
                <a:hlinkClick r:id="rId3"/>
              </a:rPr>
              <a:t>https://www.kaggle.com/datasets/oktayrdeki/traffic-accidents</a:t>
            </a:r>
            <a:endParaRPr sz="160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22860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600" u="sng">
                <a:solidFill>
                  <a:schemeClr val="hlink"/>
                </a:solidFill>
                <a:hlinkClick r:id="rId4"/>
              </a:rPr>
              <a:t>https://medium.com/@rithpansanga/logistic-regression-and-regularization-avoiding-overfitting-and-improving-generalization-e9afdcddd09d</a:t>
            </a:r>
            <a:endParaRPr sz="160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22860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228600" lvl="0" indent="-127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</Words>
  <Application>Microsoft Office PowerPoint</Application>
  <PresentationFormat>Widescreen</PresentationFormat>
  <Paragraphs>251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Play</vt:lpstr>
      <vt:lpstr>Helvetica Neue</vt:lpstr>
      <vt:lpstr>Arial</vt:lpstr>
      <vt:lpstr>Office 佈景主題</vt:lpstr>
      <vt:lpstr>Prediction of Traffic Accident with Machine Learning </vt:lpstr>
      <vt:lpstr>Agenda</vt:lpstr>
      <vt:lpstr>Background &amp; Objective</vt:lpstr>
      <vt:lpstr>Introduction of Dataset</vt:lpstr>
      <vt:lpstr>EDA</vt:lpstr>
      <vt:lpstr>PowerPoint Presentation</vt:lpstr>
      <vt:lpstr>Data Preprocessing</vt:lpstr>
      <vt:lpstr>Metrics Used for Model Evaluation</vt:lpstr>
      <vt:lpstr>Model: Histogram-based Gradient Boosting Classification Tree</vt:lpstr>
      <vt:lpstr>Model: Histogram-based Gradient Boosting Classification Tree</vt:lpstr>
      <vt:lpstr>Model: Logistic Regression</vt:lpstr>
      <vt:lpstr>Model: Logistic Regression</vt:lpstr>
      <vt:lpstr>Model: Random Forest</vt:lpstr>
      <vt:lpstr>Model: Random Forest</vt:lpstr>
      <vt:lpstr>Model: Random Forest</vt:lpstr>
      <vt:lpstr>Model: Random Forest</vt:lpstr>
      <vt:lpstr>Comparison</vt:lpstr>
      <vt:lpstr>Comparison</vt:lpstr>
      <vt:lpstr>Challenges and Limitations</vt:lpstr>
      <vt:lpstr>Demonstration</vt:lpstr>
      <vt:lpstr>Conclusion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Kwan w</cp:lastModifiedBy>
  <cp:revision>1</cp:revision>
  <dcterms:created xsi:type="dcterms:W3CDTF">2025-07-27T15:27:40Z</dcterms:created>
  <dcterms:modified xsi:type="dcterms:W3CDTF">2026-03-14T12:51:07Z</dcterms:modified>
</cp:coreProperties>
</file>